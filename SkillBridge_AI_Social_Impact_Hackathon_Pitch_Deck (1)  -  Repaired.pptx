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644" y="-2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12480" y="640080"/>
            <a:ext cx="1828800" cy="1828800"/>
          </a:xfrm>
          <a:prstGeom prst="ellipse">
            <a:avLst/>
          </a:prstGeom>
          <a:solidFill>
            <a:srgbClr val="1BA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1828800"/>
            <a:ext cx="1188720" cy="1188720"/>
          </a:xfrm>
          <a:prstGeom prst="ellipse">
            <a:avLst/>
          </a:prstGeom>
          <a:solidFill>
            <a:srgbClr val="F4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955279" y="2834640"/>
            <a:ext cx="914400" cy="914400"/>
          </a:xfrm>
          <a:prstGeom prst="ellipse">
            <a:avLst/>
          </a:prstGeom>
          <a:solidFill>
            <a:srgbClr val="537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149840" y="3657600"/>
            <a:ext cx="1828800" cy="1828800"/>
          </a:xfrm>
          <a:prstGeom prst="ellipse">
            <a:avLst/>
          </a:prstGeom>
          <a:solidFill>
            <a:srgbClr val="1BA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5943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BAE99"/>
                </a:solidFill>
                <a:latin typeface="Aptos"/>
              </a:defRPr>
            </a:pPr>
            <a:r>
              <a:t>DOLPHIN TANK INDIA • SOCIAL IMPACT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73152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SkillBridge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23160"/>
            <a:ext cx="71323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FFFFFF"/>
                </a:solidFill>
                <a:latin typeface="Aptos"/>
              </a:defRPr>
            </a:pPr>
            <a:r>
              <a:t>Learn skills. Build confidence. Find your next opportunity.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401568"/>
            <a:ext cx="6675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DDCED"/>
                </a:solidFill>
                <a:latin typeface="Aptos"/>
              </a:defRPr>
            </a:pPr>
            <a:r>
              <a:t>A learning and career-guidance prototype for students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4828032"/>
            <a:ext cx="5303520" cy="749808"/>
          </a:xfrm>
          <a:prstGeom prst="roundRect">
            <a:avLst/>
          </a:prstGeom>
          <a:solidFill>
            <a:srgbClr val="19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5047488"/>
            <a:ext cx="48920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THEME: EDUCATION • SKILLS • EMPLOYABILITY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053328"/>
            <a:ext cx="80467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CDDCED"/>
                </a:solidFill>
                <a:latin typeface="Aptos"/>
              </a:defRPr>
            </a:pPr>
            <a:r>
              <a:rPr dirty="0"/>
              <a:t>Team name: </a:t>
            </a:r>
            <a:r>
              <a:rPr lang="en-US" dirty="0"/>
              <a:t>laterals-legends  </a:t>
            </a:r>
            <a:r>
              <a:rPr dirty="0"/>
              <a:t> Members: </a:t>
            </a:r>
            <a:r>
              <a:rPr lang="en-US" dirty="0" err="1"/>
              <a:t>T.Reddy</a:t>
            </a:r>
            <a:r>
              <a:rPr lang="en-US" dirty="0"/>
              <a:t> </a:t>
            </a:r>
            <a:r>
              <a:rPr lang="en-US" dirty="0" err="1"/>
              <a:t>Rohith,P.Manoj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4754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BAE99"/>
                </a:solidFill>
                <a:latin typeface="Aptos"/>
              </a:defRPr>
            </a:pPr>
            <a:r>
              <a:t>PROJECT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1F39"/>
                </a:solidFill>
                <a:latin typeface="Aptos"/>
              </a:defRPr>
            </a:pPr>
            <a:r>
              <a:t>SkillBridge AI 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E6E82"/>
                </a:solidFill>
                <a:latin typeface="Aptos"/>
              </a:defRPr>
            </a:pPr>
            <a:r>
              <a:t>Keep this slide crisp: what it does, who it helps, and the intended benefit.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CDDCED"/>
                </a:solidFill>
                <a:latin typeface="Aptos"/>
              </a:defRPr>
            </a:pPr>
            <a:r>
              <a:rPr lang="en-US" dirty="0"/>
              <a:t>Team name: laterals-legends   Members: </a:t>
            </a:r>
            <a:r>
              <a:rPr lang="en-US" dirty="0" err="1"/>
              <a:t>T.Reddy</a:t>
            </a:r>
            <a:r>
              <a:rPr lang="en-US" dirty="0"/>
              <a:t> </a:t>
            </a:r>
            <a:r>
              <a:rPr lang="en-US" dirty="0" err="1"/>
              <a:t>Rohith,P.Manoj</a:t>
            </a:r>
            <a:r>
              <a:rPr lang="en-US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6E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10515600" cy="2057400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2423160"/>
            <a:ext cx="9692640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7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SkillBridge AI helps students identify learning gaps, practise skills through assessments, get guided learning support, and explore entry-level career opportunities in one place.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617720"/>
            <a:ext cx="101498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5E6E82"/>
                </a:solidFill>
                <a:latin typeface="Aptos"/>
              </a:defRPr>
            </a:pPr>
            <a:r>
              <a:t>Prototype status: working web MVP with React + TypeScript, FastAPI and SQLite. The current tutor is rule-based/demo guidance, not a connected large-language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4754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BAE99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1F39"/>
                </a:solidFill>
                <a:latin typeface="Aptos"/>
              </a:defRPr>
            </a:pPr>
            <a:r>
              <a:t>Students need a clearer bridge from learning to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E6E82"/>
                </a:solidFill>
                <a:latin typeface="Aptos"/>
              </a:defRPr>
            </a:pPr>
            <a:r>
              <a:t>Problem framing for the prototype; add local research or verified statistics before final submission.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CDDCED"/>
                </a:solidFill>
                <a:latin typeface="Aptos"/>
              </a:defRPr>
            </a:pPr>
            <a:r>
              <a:rPr lang="en-US" dirty="0"/>
              <a:t>Team name: laterals-legends   Members: </a:t>
            </a:r>
            <a:r>
              <a:rPr lang="en-US" dirty="0" err="1"/>
              <a:t>T.Reddy</a:t>
            </a:r>
            <a:r>
              <a:rPr lang="en-US" dirty="0"/>
              <a:t> </a:t>
            </a:r>
            <a:r>
              <a:rPr lang="en-US" dirty="0" err="1"/>
              <a:t>Rohith,P.Manoj</a:t>
            </a:r>
            <a:r>
              <a:rPr lang="en-US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6E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520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2011680"/>
          </a:xfrm>
          <a:prstGeom prst="rect">
            <a:avLst/>
          </a:prstGeom>
          <a:solidFill>
            <a:srgbClr val="1BA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993392"/>
            <a:ext cx="31363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Scattered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450592"/>
            <a:ext cx="3136392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Learning resources, practice, guidance and job discovery often sit in separate places.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520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64008" cy="2011680"/>
          </a:xfrm>
          <a:prstGeom prst="rect">
            <a:avLst/>
          </a:prstGeom>
          <a:solidFill>
            <a:srgbClr val="F4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993392"/>
            <a:ext cx="31363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Unclear skill gaps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450592"/>
            <a:ext cx="3136392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Students may not know what to practise next or how to track progress.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520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64008" cy="2011680"/>
          </a:xfrm>
          <a:prstGeom prst="rect">
            <a:avLst/>
          </a:prstGeom>
          <a:solidFill>
            <a:srgbClr val="CA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993392"/>
            <a:ext cx="31363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Confidence barrier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450592"/>
            <a:ext cx="3136392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Without accessible guidance, career preparation can feel confusing and difficult to start.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343400"/>
            <a:ext cx="10424160" cy="960120"/>
          </a:xfrm>
          <a:prstGeom prst="roundRect">
            <a:avLst/>
          </a:prstGeom>
          <a:solidFill>
            <a:srgbClr val="D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617720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11F39"/>
                </a:solidFill>
                <a:latin typeface="Aptos"/>
              </a:defRPr>
            </a:pPr>
            <a:r>
              <a:t>Core question: How might we make skill-building and career preparation easier to start, practise and track?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4754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BAE99"/>
                </a:solidFill>
                <a:latin typeface="Aptos"/>
              </a:defRPr>
            </a:pPr>
            <a:r>
              <a:t>PROBLEM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1F39"/>
                </a:solidFill>
                <a:latin typeface="Aptos"/>
              </a:defRPr>
            </a:pPr>
            <a:r>
              <a:t>Why this problem matters — and what we still need to validate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E6E82"/>
                </a:solidFill>
                <a:latin typeface="Aptos"/>
              </a:defRPr>
            </a:pPr>
            <a:r>
              <a:t>Do not present estimates as research. Replace the evidence prompts with real sources before submission.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CDDCED"/>
                </a:solidFill>
                <a:latin typeface="Aptos"/>
              </a:defRPr>
            </a:pPr>
            <a:r>
              <a:rPr lang="en-US" dirty="0"/>
              <a:t>Team name: laterals-legends   Members: </a:t>
            </a:r>
            <a:r>
              <a:rPr lang="en-US" dirty="0" err="1"/>
              <a:t>T.Reddy</a:t>
            </a:r>
            <a:r>
              <a:rPr lang="en-US" dirty="0"/>
              <a:t> </a:t>
            </a:r>
            <a:r>
              <a:rPr lang="en-US" dirty="0" err="1"/>
              <a:t>Rohith,P.Manoj</a:t>
            </a:r>
            <a:r>
              <a:rPr lang="en-US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6E8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64008" cy="2240280"/>
          </a:xfrm>
          <a:prstGeom prst="rect">
            <a:avLst/>
          </a:prstGeom>
          <a:solidFill>
            <a:srgbClr val="1BA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993392"/>
            <a:ext cx="309067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What we can show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450592"/>
            <a:ext cx="3090672" cy="1481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A functioning prototype brings courses, quizzes, tutor-style guidance, progress and demo jobs into one web experience.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82880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2" y="1828800"/>
            <a:ext cx="64008" cy="2240280"/>
          </a:xfrm>
          <a:prstGeom prst="rect">
            <a:avLst/>
          </a:prstGeom>
          <a:solidFill>
            <a:srgbClr val="F4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993392"/>
            <a:ext cx="309067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Evidence to collect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50592"/>
            <a:ext cx="3090672" cy="1481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Interview students and educators; ask about learning barriers, guidance access and job-readiness needs.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64008" cy="2240280"/>
          </a:xfrm>
          <a:prstGeom prst="rect">
            <a:avLst/>
          </a:prstGeom>
          <a:solidFill>
            <a:srgbClr val="CA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993392"/>
            <a:ext cx="309067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Before claiming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450592"/>
            <a:ext cx="3090672" cy="1481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Record interview count, repeated pain points, task-completion observations and feedback with consent.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09160"/>
            <a:ext cx="10424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11F39"/>
                </a:solidFill>
                <a:latin typeface="Aptos"/>
              </a:defRPr>
            </a:pPr>
            <a:r>
              <a:t>Suggested validation: 5–10 short student interviews + a small usability test. Report actual counts and quotes only after completing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4754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BAE99"/>
                </a:solidFill>
                <a:latin typeface="Aptos"/>
              </a:defRPr>
            </a:pPr>
            <a:r>
              <a:t>SOCIAL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1F39"/>
                </a:solidFill>
                <a:latin typeface="Aptos"/>
              </a:defRPr>
            </a:pPr>
            <a:r>
              <a:t>Designed to support inclusive learning and employability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E6E82"/>
                </a:solidFill>
                <a:latin typeface="Aptos"/>
              </a:defRPr>
            </a:pPr>
            <a:r>
              <a:t>Potential alignment; describe outcomes as goals until measured.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CDDCED"/>
                </a:solidFill>
                <a:latin typeface="Aptos"/>
              </a:defRPr>
            </a:pPr>
            <a:r>
              <a:rPr lang="en-US" dirty="0"/>
              <a:t>Team name: laterals-legends   Members: </a:t>
            </a:r>
            <a:r>
              <a:rPr lang="en-US" dirty="0" err="1"/>
              <a:t>T.Reddy</a:t>
            </a:r>
            <a:r>
              <a:rPr lang="en-US" dirty="0"/>
              <a:t> </a:t>
            </a:r>
            <a:r>
              <a:rPr lang="en-US" dirty="0" err="1"/>
              <a:t>Rohith,P.Manoj</a:t>
            </a:r>
            <a:r>
              <a:rPr lang="en-US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6E8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429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148840"/>
          </a:xfrm>
          <a:prstGeom prst="rect">
            <a:avLst/>
          </a:prstGeom>
          <a:solidFill>
            <a:srgbClr val="1BA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93392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Primary beneficiaries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50592"/>
            <a:ext cx="3044952" cy="1389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Students who want structured practice, clearer next steps and accessible career exploration.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429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64008" cy="2148840"/>
          </a:xfrm>
          <a:prstGeom prst="rect">
            <a:avLst/>
          </a:prstGeom>
          <a:solidFill>
            <a:srgbClr val="F4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993392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SDG 4 — Quality Education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450592"/>
            <a:ext cx="3044952" cy="1389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Supports lifelong learning through guided practice and progress visibility.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429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64008" cy="2148840"/>
          </a:xfrm>
          <a:prstGeom prst="rect">
            <a:avLst/>
          </a:prstGeom>
          <a:solidFill>
            <a:srgbClr val="CA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993392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SDG 8 — Decent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450592"/>
            <a:ext cx="3044952" cy="1389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Aims to help learners prepare for work and discover relevant opportunities.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43484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9"/>
                </a:solidFill>
                <a:latin typeface="Aptos"/>
              </a:defRPr>
            </a:pPr>
            <a:r>
              <a:t>Impact metrics to track in a 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00600"/>
            <a:ext cx="10058400" cy="11430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t>•  Learners who complete a skill assessment</a:t>
            </a:r>
          </a:p>
          <a:p>
            <a:pPr>
              <a:spcAft>
                <a:spcPts val="12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t>•  Change in quiz scores after practice</a:t>
            </a:r>
          </a:p>
          <a:p>
            <a:pPr>
              <a:spcAft>
                <a:spcPts val="1200"/>
              </a:spcAft>
              <a:defRPr sz="1300">
                <a:solidFill>
                  <a:srgbClr val="233041"/>
                </a:solidFill>
                <a:latin typeface="Aptos"/>
              </a:defRPr>
            </a:pPr>
            <a:r>
              <a:t>•  Learners who finish a learning path or career-preparation task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4754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BAE99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1F39"/>
                </a:solidFill>
                <a:latin typeface="Aptos"/>
              </a:defRPr>
            </a:pPr>
            <a:r>
              <a:t>Who is SkillBridge AI for?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E6E82"/>
                </a:solidFill>
                <a:latin typeface="Aptos"/>
              </a:defRPr>
            </a:pPr>
            <a:r>
              <a:t>These are provisional personas for design; validate them with real students.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CDDCED"/>
                </a:solidFill>
                <a:latin typeface="Aptos"/>
              </a:defRPr>
            </a:pPr>
            <a:r>
              <a:rPr lang="en-US" dirty="0"/>
              <a:t>Team name: laterals-legends   Members: </a:t>
            </a:r>
            <a:r>
              <a:rPr lang="en-US" dirty="0" err="1"/>
              <a:t>T.Reddy</a:t>
            </a:r>
            <a:r>
              <a:rPr lang="en-US" dirty="0"/>
              <a:t> </a:t>
            </a:r>
            <a:r>
              <a:rPr lang="en-US" dirty="0" err="1"/>
              <a:t>Rohith,P.Manoj</a:t>
            </a:r>
            <a:r>
              <a:rPr lang="en-US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6E8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926080"/>
          </a:xfrm>
          <a:prstGeom prst="rect">
            <a:avLst/>
          </a:prstGeom>
          <a:solidFill>
            <a:srgbClr val="1BA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93392"/>
            <a:ext cx="48280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9"/>
                </a:solidFill>
                <a:latin typeface="Aptos"/>
              </a:defRPr>
            </a:pPr>
            <a:r>
              <a:t>Persona A • The unsure learner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50592"/>
            <a:ext cx="4828032" cy="21671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1"/>
                </a:solidFill>
                <a:latin typeface="Aptos"/>
              </a:defRPr>
            </a:pPr>
            <a:r>
              <a:t>Needs: a simple starting point, short practice tasks and visible progress.</a:t>
            </a:r>
          </a:p>
          <a:p>
            <a:pPr>
              <a:spcAft>
                <a:spcPts val="700"/>
              </a:spcAft>
              <a:defRPr sz="1300" b="0">
                <a:solidFill>
                  <a:srgbClr val="233041"/>
                </a:solidFill>
                <a:latin typeface="Aptos"/>
              </a:defRPr>
            </a:pPr>
            <a:r>
              <a:t>Pain point to validate: “I am not sure what skill to learn next.”</a:t>
            </a:r>
          </a:p>
          <a:p>
            <a:pPr>
              <a:spcAft>
                <a:spcPts val="700"/>
              </a:spcAft>
              <a:defRPr sz="1300" b="0">
                <a:solidFill>
                  <a:srgbClr val="233041"/>
                </a:solidFill>
                <a:latin typeface="Aptos"/>
              </a:defRPr>
            </a:pPr>
            <a:r>
              <a:t>Design response: course cards, assessments and progress indicators.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2120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64008" cy="2926080"/>
          </a:xfrm>
          <a:prstGeom prst="rect">
            <a:avLst/>
          </a:prstGeom>
          <a:solidFill>
            <a:srgbClr val="F4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993392"/>
            <a:ext cx="48280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9"/>
                </a:solidFill>
                <a:latin typeface="Aptos"/>
              </a:defRPr>
            </a:pPr>
            <a:r>
              <a:t>Persona B • The opportunity seeker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450592"/>
            <a:ext cx="4828032" cy="21671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1"/>
                </a:solidFill>
                <a:latin typeface="Aptos"/>
              </a:defRPr>
            </a:pPr>
            <a:r>
              <a:t>Needs: guidance connecting skills to roles and practical next steps.</a:t>
            </a:r>
          </a:p>
          <a:p>
            <a:pPr>
              <a:spcAft>
                <a:spcPts val="700"/>
              </a:spcAft>
              <a:defRPr sz="1300" b="0">
                <a:solidFill>
                  <a:srgbClr val="233041"/>
                </a:solidFill>
                <a:latin typeface="Aptos"/>
              </a:defRPr>
            </a:pPr>
            <a:r>
              <a:t>Pain point to validate: “I do not know how to prepare for opportunities.”</a:t>
            </a:r>
          </a:p>
          <a:p>
            <a:pPr>
              <a:spcAft>
                <a:spcPts val="700"/>
              </a:spcAft>
              <a:defRPr sz="1300" b="0">
                <a:solidFill>
                  <a:srgbClr val="233041"/>
                </a:solidFill>
                <a:latin typeface="Aptos"/>
              </a:defRPr>
            </a:pPr>
            <a:r>
              <a:t>Design response: tutor-style help and a demo jobs area.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111F39"/>
                </a:solidFill>
                <a:latin typeface="Aptos"/>
              </a:defRPr>
            </a:pPr>
            <a:r>
              <a:t>User journey: Choose a skill → practise → review progress → get guidance → explore opportunities.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4754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BAE99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1F39"/>
                </a:solidFill>
                <a:latin typeface="Aptos"/>
              </a:defRPr>
            </a:pPr>
            <a:r>
              <a:t>One simple journey from learning 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E6E82"/>
                </a:solidFill>
                <a:latin typeface="Aptos"/>
              </a:defRPr>
            </a:pPr>
            <a:r>
              <a:t>Show the current working features without overstating the AI capabilities.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CDDCED"/>
                </a:solidFill>
                <a:latin typeface="Aptos"/>
              </a:defRPr>
            </a:pPr>
            <a:r>
              <a:rPr lang="en-US" dirty="0"/>
              <a:t>Team name: laterals-legends   Members: </a:t>
            </a:r>
            <a:r>
              <a:rPr lang="en-US" dirty="0" err="1"/>
              <a:t>T.Reddy</a:t>
            </a:r>
            <a:r>
              <a:rPr lang="en-US" dirty="0"/>
              <a:t> </a:t>
            </a:r>
            <a:r>
              <a:rPr lang="en-US" dirty="0" err="1"/>
              <a:t>Rohith,P.Manoj</a:t>
            </a:r>
            <a:r>
              <a:rPr lang="en-US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6E8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40280"/>
            <a:ext cx="20574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07592" y="1938528"/>
            <a:ext cx="621792" cy="621792"/>
          </a:xfrm>
          <a:prstGeom prst="ellipse">
            <a:avLst/>
          </a:prstGeom>
          <a:solidFill>
            <a:srgbClr val="1BA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07592" y="2112264"/>
            <a:ext cx="6217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1783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17830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5E6E82"/>
                </a:solidFill>
                <a:latin typeface="Aptos"/>
              </a:defRPr>
            </a:pPr>
            <a:r>
              <a:t>Browse course cards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880360"/>
            <a:ext cx="274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1BAE9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79" y="2240280"/>
            <a:ext cx="20574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639311" y="1938528"/>
            <a:ext cx="621792" cy="621792"/>
          </a:xfrm>
          <a:prstGeom prst="ellipse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9311" y="2112264"/>
            <a:ext cx="6217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39" y="2743200"/>
            <a:ext cx="1783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Practise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39" y="3246120"/>
            <a:ext cx="17830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5E6E82"/>
                </a:solidFill>
                <a:latin typeface="Aptos"/>
              </a:defRPr>
            </a:pPr>
            <a:r>
              <a:t>Take skill assessments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79" y="2880360"/>
            <a:ext cx="274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1BAE9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57800" y="2240280"/>
            <a:ext cx="20574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971032" y="1938528"/>
            <a:ext cx="621792" cy="621792"/>
          </a:xfrm>
          <a:prstGeom prst="ellipse">
            <a:avLst/>
          </a:prstGeom>
          <a:solidFill>
            <a:srgbClr val="1BA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71032" y="2112264"/>
            <a:ext cx="6217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2743200"/>
            <a:ext cx="1783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3246120"/>
            <a:ext cx="17830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5E6E82"/>
                </a:solidFill>
                <a:latin typeface="Aptos"/>
              </a:defRPr>
            </a:pPr>
            <a:r>
              <a:t>See progress indicators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880360"/>
            <a:ext cx="274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1BAE9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19" y="2240280"/>
            <a:ext cx="20574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302751" y="1938528"/>
            <a:ext cx="621792" cy="621792"/>
          </a:xfrm>
          <a:prstGeom prst="ellipse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02751" y="2112264"/>
            <a:ext cx="6217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2743200"/>
            <a:ext cx="1783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Get guidance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3246120"/>
            <a:ext cx="17830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5E6E82"/>
                </a:solidFill>
                <a:latin typeface="Aptos"/>
              </a:defRPr>
            </a:pPr>
            <a:r>
              <a:t>Use demo tutor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19" y="2880360"/>
            <a:ext cx="274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1BAE9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21240" y="2240280"/>
            <a:ext cx="20574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634472" y="1938528"/>
            <a:ext cx="621792" cy="621792"/>
          </a:xfrm>
          <a:prstGeom prst="ellipse">
            <a:avLst/>
          </a:prstGeom>
          <a:solidFill>
            <a:srgbClr val="1BA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634472" y="2112264"/>
            <a:ext cx="6217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2743200"/>
            <a:ext cx="1783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Explore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3246120"/>
            <a:ext cx="17830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5E6E82"/>
                </a:solidFill>
                <a:latin typeface="Aptos"/>
              </a:defRPr>
            </a:pPr>
            <a:r>
              <a:t>View sample job listings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892040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111F39"/>
                </a:solidFill>
                <a:latin typeface="Aptos"/>
              </a:defRPr>
            </a:pPr>
            <a:r>
              <a:t>Value proposition: keep the next learning action visible and make progress easier to understand.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4754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BAE99"/>
                </a:solidFill>
                <a:latin typeface="Aptos"/>
              </a:defRPr>
            </a:pPr>
            <a: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1F39"/>
                </a:solidFill>
                <a:latin typeface="Aptos"/>
              </a:defRPr>
            </a:pPr>
            <a:r>
              <a:t>What the MVP includes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E6E82"/>
                </a:solidFill>
                <a:latin typeface="Aptos"/>
              </a:defRPr>
            </a:pPr>
            <a:r>
              <a:t>Use actual product screenshots in the final deck if possible.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CDDCED"/>
                </a:solidFill>
                <a:latin typeface="Aptos"/>
              </a:defRPr>
            </a:pPr>
            <a:r>
              <a:rPr lang="en-US" dirty="0"/>
              <a:t>Team name: laterals-legends   Members: </a:t>
            </a:r>
            <a:r>
              <a:rPr lang="en-US" dirty="0" err="1"/>
              <a:t>T.Reddy</a:t>
            </a:r>
            <a:r>
              <a:rPr lang="en-US" dirty="0"/>
              <a:t> </a:t>
            </a:r>
            <a:r>
              <a:rPr lang="en-US" dirty="0" err="1"/>
              <a:t>Rohith,P.Manoj</a:t>
            </a:r>
            <a:r>
              <a:rPr lang="en-US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6E8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64008" cy="1508760"/>
          </a:xfrm>
          <a:prstGeom prst="rect">
            <a:avLst/>
          </a:prstGeom>
          <a:solidFill>
            <a:srgbClr val="1BA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47672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Courses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04872"/>
            <a:ext cx="3044952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Course cards and progress examples.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8308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783080"/>
            <a:ext cx="64008" cy="1508760"/>
          </a:xfrm>
          <a:prstGeom prst="rect">
            <a:avLst/>
          </a:prstGeom>
          <a:solidFill>
            <a:srgbClr val="F4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947672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Assessments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404872"/>
            <a:ext cx="3044952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Quiz interface and score calculation.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78308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783080"/>
            <a:ext cx="64008" cy="1508760"/>
          </a:xfrm>
          <a:prstGeom prst="rect">
            <a:avLst/>
          </a:prstGeom>
          <a:solidFill>
            <a:srgbClr val="CA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947672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Tutor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404872"/>
            <a:ext cx="3044952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Rule-based demo responses for learning guidance.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1188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611880"/>
            <a:ext cx="64008" cy="1508760"/>
          </a:xfrm>
          <a:prstGeom prst="rect">
            <a:avLst/>
          </a:prstGeom>
          <a:solidFill>
            <a:srgbClr val="F4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3776472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233672"/>
            <a:ext cx="3044952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Progress indicators connected to the app experience.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61188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89120" y="3611880"/>
            <a:ext cx="64008" cy="1508760"/>
          </a:xfrm>
          <a:prstGeom prst="rect">
            <a:avLst/>
          </a:prstGeom>
          <a:solidFill>
            <a:srgbClr val="CA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90288" y="3776472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Demo jobs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4233672"/>
            <a:ext cx="3044952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Sample opportunity listings for demonstration.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61188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46720" y="3611880"/>
            <a:ext cx="64008" cy="1508760"/>
          </a:xfrm>
          <a:prstGeom prst="rect">
            <a:avLst/>
          </a:prstGeom>
          <a:solidFill>
            <a:srgbClr val="1BA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47888" y="3776472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Backend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4233672"/>
            <a:ext cx="3044952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FastAPI service and SQLite database.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486400"/>
            <a:ext cx="102412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5E6E82"/>
                </a:solidFill>
                <a:latin typeface="Aptos"/>
              </a:defRPr>
            </a:pPr>
            <a:r>
              <a:t>Important: mark demo/sample content clearly; replace it with verified content before a real pilot.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4754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BAE99"/>
                </a:solidFill>
                <a:latin typeface="Aptos"/>
              </a:defRPr>
            </a:pPr>
            <a:r>
              <a:t>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1F39"/>
                </a:solidFill>
                <a:latin typeface="Aptos"/>
              </a:defRPr>
            </a:pPr>
            <a:r>
              <a:t>Differentiation: connect the steps, not just the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E6E82"/>
                </a:solidFill>
                <a:latin typeface="Aptos"/>
              </a:defRPr>
            </a:pPr>
            <a:r>
              <a:t>This is a design hypothesis; validate it against tools students already 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CDDCED"/>
                </a:solidFill>
                <a:latin typeface="Aptos"/>
              </a:defRPr>
            </a:pPr>
            <a:r>
              <a:rPr lang="en-US" dirty="0"/>
              <a:t>Team name: laterals-legends   Members: </a:t>
            </a:r>
            <a:r>
              <a:rPr lang="en-US" dirty="0" err="1"/>
              <a:t>T.Reddy</a:t>
            </a:r>
            <a:r>
              <a:rPr lang="en-US" dirty="0"/>
              <a:t> </a:t>
            </a:r>
            <a:r>
              <a:rPr lang="en-US" dirty="0" err="1"/>
              <a:t>Rohith,P.Manoj</a:t>
            </a:r>
            <a:r>
              <a:rPr lang="en-US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6E8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832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514600"/>
          </a:xfrm>
          <a:prstGeom prst="rect">
            <a:avLst/>
          </a:prstGeom>
          <a:solidFill>
            <a:srgbClr val="CA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93392"/>
            <a:ext cx="29992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Typical fragmented journey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50592"/>
            <a:ext cx="2999232" cy="1755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t>Course platform</a:t>
            </a:r>
          </a:p>
          <a:p>
            <a:pPr>
              <a:spcAft>
                <a:spcPts val="7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t>+ separate quiz tool</a:t>
            </a:r>
          </a:p>
          <a:p>
            <a:pPr>
              <a:spcAft>
                <a:spcPts val="7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t>+ separate career site</a:t>
            </a:r>
          </a:p>
          <a:p>
            <a:pPr>
              <a:spcAft>
                <a:spcPts val="7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t>+ informal guidance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3832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64008" cy="2514600"/>
          </a:xfrm>
          <a:prstGeom prst="rect">
            <a:avLst/>
          </a:prstGeom>
          <a:solidFill>
            <a:srgbClr val="1BA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993392"/>
            <a:ext cx="29992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SkillBridge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450592"/>
            <a:ext cx="2999232" cy="1755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t>A single prototype flow for learning, practice, progress, guided help and opportunity exploration.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3832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64008" cy="2514600"/>
          </a:xfrm>
          <a:prstGeom prst="rect">
            <a:avLst/>
          </a:prstGeom>
          <a:solidFill>
            <a:srgbClr val="F4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993392"/>
            <a:ext cx="29992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What to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450592"/>
            <a:ext cx="2999232" cy="1755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t>Does the connected flow help students finish a useful next step with less confusion?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937760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5E6E82"/>
                </a:solidFill>
                <a:latin typeface="Aptos"/>
              </a:defRPr>
            </a:pPr>
            <a:r>
              <a:t>Avoid claiming “first”, “unique in the market” or proven improvement without competitor research and user evidence.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4754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BAE99"/>
                </a:solidFill>
                <a:latin typeface="Aptos"/>
              </a:defRPr>
            </a:pPr>
            <a: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1F39"/>
                </a:solidFill>
                <a:latin typeface="Aptos"/>
              </a:defRPr>
            </a:pPr>
            <a:r>
              <a:t>Simple, modular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E6E82"/>
                </a:solidFill>
                <a:latin typeface="Aptos"/>
              </a:defRPr>
            </a:pPr>
            <a:r>
              <a:t>Current stack based on the project setup.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CDDCED"/>
                </a:solidFill>
                <a:latin typeface="Aptos"/>
              </a:defRPr>
            </a:pPr>
            <a:r>
              <a:rPr lang="en-US" dirty="0"/>
              <a:t>Team name: laterals-legends   Members: </a:t>
            </a:r>
            <a:r>
              <a:rPr lang="en-US" dirty="0" err="1"/>
              <a:t>T.Reddy</a:t>
            </a:r>
            <a:r>
              <a:rPr lang="en-US" dirty="0"/>
              <a:t> </a:t>
            </a:r>
            <a:r>
              <a:rPr lang="en-US" dirty="0" err="1"/>
              <a:t>Rohith,P.Manoj</a:t>
            </a:r>
            <a:r>
              <a:rPr lang="en-US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6E8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783080"/>
            <a:ext cx="6126480" cy="658368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46120" y="1892807"/>
            <a:ext cx="1463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901952"/>
            <a:ext cx="3977639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Web 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441448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BAE99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2770632"/>
            <a:ext cx="6126480" cy="658368"/>
          </a:xfrm>
          <a:prstGeom prst="roundRect">
            <a:avLst/>
          </a:prstGeom>
          <a:solidFill>
            <a:srgbClr val="1BA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46120" y="2880360"/>
            <a:ext cx="1463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889504"/>
            <a:ext cx="3977639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React + TypeScript + Vite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342900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BAE99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3758184"/>
            <a:ext cx="6126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46120" y="3867912"/>
            <a:ext cx="1463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11F39"/>
                </a:solidFill>
                <a:latin typeface="Aptos"/>
              </a:defRPr>
            </a:pPr>
            <a:r>
              <a:t>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877056"/>
            <a:ext cx="3977639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t>FastAPI 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4416552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BAE99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4745736"/>
            <a:ext cx="6126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46120" y="4855464"/>
            <a:ext cx="1463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11F39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4864608"/>
            <a:ext cx="3977639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t>SQLite 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9788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5E6E82"/>
                </a:solidFill>
                <a:latin typeface="Aptos"/>
              </a:defRPr>
            </a:pPr>
            <a:r>
              <a:t>Tutor responses are currently rule-based/demo logic. No external LLM integration is claimed in this deck.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4754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BAE99"/>
                </a:solidFill>
                <a:latin typeface="Aptos"/>
              </a:defRPr>
            </a:pPr>
            <a:r>
              <a:t>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1F39"/>
                </a:solidFill>
                <a:latin typeface="Aptos"/>
              </a:defRPr>
            </a:pPr>
            <a:r>
              <a:t>Prototype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E6E82"/>
                </a:solidFill>
                <a:latin typeface="Aptos"/>
              </a:defRPr>
            </a:pPr>
            <a:r>
              <a:t>Add real screenshots from the running local app before submission; the items below are demo checkpoints.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CDDCED"/>
                </a:solidFill>
                <a:latin typeface="Aptos"/>
              </a:defRPr>
            </a:pPr>
            <a:r>
              <a:rPr lang="en-US" dirty="0"/>
              <a:t>Team name: laterals-legends   Members: </a:t>
            </a:r>
            <a:r>
              <a:rPr lang="en-US" dirty="0" err="1"/>
              <a:t>T.Reddy</a:t>
            </a:r>
            <a:r>
              <a:rPr lang="en-US" dirty="0"/>
              <a:t> </a:t>
            </a:r>
            <a:r>
              <a:rPr lang="en-US" dirty="0" err="1"/>
              <a:t>Rohith,P.Manoj</a:t>
            </a:r>
            <a:r>
              <a:rPr lang="en-US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6E8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459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64008" cy="658368"/>
          </a:xfrm>
          <a:prstGeom prst="rect">
            <a:avLst/>
          </a:prstGeom>
          <a:solidFill>
            <a:srgbClr val="1BA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1810512"/>
            <a:ext cx="101315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11F39"/>
                </a:solidFill>
                <a:latin typeface="Aptos"/>
              </a:defRPr>
            </a:pPr>
            <a:r>
              <a:t>01 • Home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267712"/>
            <a:ext cx="10131552" cy="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233041"/>
                </a:solidFill>
                <a:latin typeface="Aptos"/>
              </a:defRPr>
            </a:pPr>
            <a:r>
              <a:t>Show the main navigation and explain the learner journey.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450592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2450592"/>
            <a:ext cx="64008" cy="658368"/>
          </a:xfrm>
          <a:prstGeom prst="rect">
            <a:avLst/>
          </a:prstGeom>
          <a:solidFill>
            <a:srgbClr val="F4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2615184"/>
            <a:ext cx="101315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11F39"/>
                </a:solidFill>
                <a:latin typeface="Aptos"/>
              </a:defRPr>
            </a:pPr>
            <a:r>
              <a:t>02 • Courses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3072384"/>
            <a:ext cx="10131552" cy="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233041"/>
                </a:solidFill>
                <a:latin typeface="Aptos"/>
              </a:defRPr>
            </a:pPr>
            <a:r>
              <a:t>Open a course card and show the progress examples.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255264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" y="3255264"/>
            <a:ext cx="64008" cy="658368"/>
          </a:xfrm>
          <a:prstGeom prst="rect">
            <a:avLst/>
          </a:prstGeom>
          <a:solidFill>
            <a:srgbClr val="1BA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" y="3419856"/>
            <a:ext cx="101315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11F39"/>
                </a:solidFill>
                <a:latin typeface="Aptos"/>
              </a:defRPr>
            </a:pPr>
            <a:r>
              <a:t>03 • 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3877056"/>
            <a:ext cx="10131552" cy="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233041"/>
                </a:solidFill>
                <a:latin typeface="Aptos"/>
              </a:defRPr>
            </a:pPr>
            <a:r>
              <a:t>Answer sample questions and show the score result.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059936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" y="4059936"/>
            <a:ext cx="64008" cy="658368"/>
          </a:xfrm>
          <a:prstGeom prst="rect">
            <a:avLst/>
          </a:prstGeom>
          <a:solidFill>
            <a:srgbClr val="F4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4128" y="4224528"/>
            <a:ext cx="101315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11F39"/>
                </a:solidFill>
                <a:latin typeface="Aptos"/>
              </a:defRPr>
            </a:pPr>
            <a:r>
              <a:t>04 • Tutor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4681728"/>
            <a:ext cx="10131552" cy="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233041"/>
                </a:solidFill>
                <a:latin typeface="Aptos"/>
              </a:defRPr>
            </a:pPr>
            <a:r>
              <a:t>Ask a learning question; explain that responses are rule-based.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864608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" y="4864608"/>
            <a:ext cx="64008" cy="658368"/>
          </a:xfrm>
          <a:prstGeom prst="rect">
            <a:avLst/>
          </a:prstGeom>
          <a:solidFill>
            <a:srgbClr val="1BA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4128" y="5029200"/>
            <a:ext cx="101315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11F39"/>
                </a:solidFill>
                <a:latin typeface="Aptos"/>
              </a:defRPr>
            </a:pPr>
            <a:r>
              <a:t>05 • Jobs / Progress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5486400"/>
            <a:ext cx="10131552" cy="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233041"/>
                </a:solidFill>
                <a:latin typeface="Aptos"/>
              </a:defRPr>
            </a:pPr>
            <a:r>
              <a:t>Show the demo opportunities and progress view.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89788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11F39"/>
                </a:solidFill>
                <a:latin typeface="Aptos"/>
              </a:defRPr>
            </a:pPr>
            <a:r>
              <a:t>Demo link: [ADD DEPLOYED URL]  |  Local development URLs are not public demo links.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4754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BAE99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1F39"/>
                </a:solidFill>
                <a:latin typeface="Aptos"/>
              </a:defRPr>
            </a:pPr>
            <a:r>
              <a:t>Validate the problem before claiming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E6E82"/>
                </a:solidFill>
                <a:latin typeface="Aptos"/>
              </a:defRPr>
            </a:pPr>
            <a:r>
              <a:t>No interview, survey or pilot results were supplied; fill this slide only with completed research.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CDDCED"/>
                </a:solidFill>
                <a:latin typeface="Aptos"/>
              </a:defRPr>
            </a:pPr>
            <a:r>
              <a:rPr lang="en-US" dirty="0"/>
              <a:t>Team name: laterals-legends   Members: </a:t>
            </a:r>
            <a:r>
              <a:rPr lang="en-US" dirty="0" err="1"/>
              <a:t>T.Reddy</a:t>
            </a:r>
            <a:r>
              <a:rPr lang="en-US" dirty="0"/>
              <a:t> </a:t>
            </a:r>
            <a:r>
              <a:rPr lang="en-US" dirty="0" err="1"/>
              <a:t>Rohith,P.Manoj</a:t>
            </a:r>
            <a:r>
              <a:rPr lang="en-US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6E82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240280"/>
          </a:xfrm>
          <a:prstGeom prst="rect">
            <a:avLst/>
          </a:prstGeom>
          <a:solidFill>
            <a:srgbClr val="1BA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93392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Student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50592"/>
            <a:ext cx="3044952" cy="1481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Status: to be completed</a:t>
            </a:r>
          </a:p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Target: short interviews with students about learning and career-preparation barriers.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64008" cy="2240280"/>
          </a:xfrm>
          <a:prstGeom prst="rect">
            <a:avLst/>
          </a:prstGeom>
          <a:solidFill>
            <a:srgbClr val="F4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993392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Usability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450592"/>
            <a:ext cx="3044952" cy="1481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Ask a student to complete one course/quiz/tutor task; note where they struggle.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64008" cy="2240280"/>
          </a:xfrm>
          <a:prstGeom prst="rect">
            <a:avLst/>
          </a:prstGeom>
          <a:solidFill>
            <a:srgbClr val="CA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993392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Evidence to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450592"/>
            <a:ext cx="3044952" cy="1481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Interview count, task success, feedback themes and changes made from feedback.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09160"/>
            <a:ext cx="10515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11F39"/>
                </a:solidFill>
                <a:latin typeface="Aptos"/>
              </a:defRPr>
            </a:pPr>
            <a:r>
              <a:t>Do not leave this as a claim of market validation. If research was not completed, label it as the next validation step.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4754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BAE99"/>
                </a:solidFill>
                <a:latin typeface="Aptos"/>
              </a:defRPr>
            </a:pPr>
            <a:r>
              <a:t>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1F39"/>
                </a:solidFill>
                <a:latin typeface="Aptos"/>
              </a:defRPr>
            </a:pPr>
            <a:r>
              <a:t>A practical path to grow responsibly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E6E82"/>
                </a:solidFill>
                <a:latin typeface="Aptos"/>
              </a:defRPr>
            </a:pPr>
            <a:r>
              <a:t>Scale after proving usefulness with a small pilot.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CDDCED"/>
                </a:solidFill>
                <a:latin typeface="Aptos"/>
              </a:defRPr>
            </a:pPr>
            <a:r>
              <a:rPr lang="en-US" dirty="0"/>
              <a:t>Team name: laterals-legends   Members: </a:t>
            </a:r>
            <a:r>
              <a:rPr lang="en-US" dirty="0" err="1"/>
              <a:t>T.Reddy</a:t>
            </a:r>
            <a:r>
              <a:rPr lang="en-US" dirty="0"/>
              <a:t> </a:t>
            </a:r>
            <a:r>
              <a:rPr lang="en-US" dirty="0" err="1"/>
              <a:t>Rohith,P.Manoj</a:t>
            </a:r>
            <a:r>
              <a:rPr lang="en-US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6E82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194560"/>
          </a:xfrm>
          <a:prstGeom prst="rect">
            <a:avLst/>
          </a:prstGeom>
          <a:solidFill>
            <a:srgbClr val="1BA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93392"/>
            <a:ext cx="217627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Stage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50592"/>
            <a:ext cx="2176272" cy="14356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Small student usability pilot</a:t>
            </a:r>
          </a:p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Fix confusing flows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82880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29000" y="1828800"/>
            <a:ext cx="64008" cy="2194560"/>
          </a:xfrm>
          <a:prstGeom prst="rect">
            <a:avLst/>
          </a:prstGeom>
          <a:solidFill>
            <a:srgbClr val="F4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30168" y="1993392"/>
            <a:ext cx="217627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Stage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450592"/>
            <a:ext cx="2176272" cy="14356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Partner with a college or training group</a:t>
            </a:r>
          </a:p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Curate learning paths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82880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1828800"/>
            <a:ext cx="64008" cy="2194560"/>
          </a:xfrm>
          <a:prstGeom prst="rect">
            <a:avLst/>
          </a:prstGeom>
          <a:solidFill>
            <a:srgbClr val="CA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7648" y="1993392"/>
            <a:ext cx="217627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Stage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450592"/>
            <a:ext cx="2176272" cy="14356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Add language and accessibility improvements</a:t>
            </a:r>
          </a:p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Measure engagement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82880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23960" y="1828800"/>
            <a:ext cx="64008" cy="2194560"/>
          </a:xfrm>
          <a:prstGeom prst="rect">
            <a:avLst/>
          </a:prstGeom>
          <a:solidFill>
            <a:srgbClr val="1BA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25128" y="1993392"/>
            <a:ext cx="217627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Stage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2450592"/>
            <a:ext cx="2176272" cy="14356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Expand only with evidence</a:t>
            </a:r>
          </a:p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Monitor outcomes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709160"/>
            <a:ext cx="104241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5E6E82"/>
                </a:solidFill>
                <a:latin typeface="Aptos"/>
              </a:defRPr>
            </a:pPr>
            <a:r>
              <a:t>Potential partners: colleges, community learning centres, NGOs and employability programmes. These are prospects, not confirmed partners.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4754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BAE99"/>
                </a:solidFill>
                <a:latin typeface="Aptos"/>
              </a:defRPr>
            </a:pPr>
            <a:r>
              <a:t>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1F39"/>
                </a:solidFill>
                <a:latin typeface="Aptos"/>
              </a:defRPr>
            </a:pPr>
            <a:r>
              <a:t>Possible sustainability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E6E82"/>
                </a:solidFill>
                <a:latin typeface="Aptos"/>
              </a:defRPr>
            </a:pPr>
            <a:r>
              <a:t>Proposed options only; no revenue or partner commitments are confirmed.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CDDCED"/>
                </a:solidFill>
                <a:latin typeface="Aptos"/>
              </a:defRPr>
            </a:pPr>
            <a:r>
              <a:rPr lang="en-US" dirty="0"/>
              <a:t>Team name: laterals-legends   Members: </a:t>
            </a:r>
            <a:r>
              <a:rPr lang="en-US" dirty="0" err="1"/>
              <a:t>T.Reddy</a:t>
            </a:r>
            <a:r>
              <a:rPr lang="en-US" dirty="0"/>
              <a:t> </a:t>
            </a:r>
            <a:r>
              <a:rPr lang="en-US" dirty="0" err="1"/>
              <a:t>Rohith,P.Manoj</a:t>
            </a:r>
            <a:r>
              <a:rPr lang="en-US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6E82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4290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286000"/>
          </a:xfrm>
          <a:prstGeom prst="rect">
            <a:avLst/>
          </a:prstGeom>
          <a:solidFill>
            <a:srgbClr val="1BA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93392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Learner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50592"/>
            <a:ext cx="3044952" cy="1527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Keep core learning and practice features free or low-cost to reduce access barriers.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4290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64008" cy="2286000"/>
          </a:xfrm>
          <a:prstGeom prst="rect">
            <a:avLst/>
          </a:prstGeom>
          <a:solidFill>
            <a:srgbClr val="F4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993392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Institutional plans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450592"/>
            <a:ext cx="3044952" cy="1527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Explore optional dashboards or curated pathways for colleges and training partners.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4290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64008" cy="2286000"/>
          </a:xfrm>
          <a:prstGeom prst="rect">
            <a:avLst/>
          </a:prstGeom>
          <a:solidFill>
            <a:srgbClr val="CA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993392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Sponsored pathways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450592"/>
            <a:ext cx="3044952" cy="1527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Consider employer/NGO-supported learning pathways with clear disclosure and no pay-to-rank jobs.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111F39"/>
                </a:solidFill>
                <a:latin typeface="Aptos"/>
              </a:defRPr>
            </a:pPr>
            <a:r>
              <a:t>Sustainability principle: access and learner trust should not depend on selling personal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4754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BAE99"/>
                </a:solidFill>
                <a:latin typeface="Aptos"/>
              </a:defRPr>
            </a:pPr>
            <a:r>
              <a:t>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1F39"/>
                </a:solidFill>
                <a:latin typeface="Aptos"/>
              </a:defRPr>
            </a:pPr>
            <a:r>
              <a:t>What it takes to run the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E6E82"/>
                </a:solidFill>
                <a:latin typeface="Aptos"/>
              </a:defRPr>
            </a:pPr>
            <a:r>
              <a:t>Use actual estimates only after choosing a deployment plan.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CDDCED"/>
                </a:solidFill>
                <a:latin typeface="Aptos"/>
              </a:defRPr>
            </a:pPr>
            <a:r>
              <a:rPr lang="en-US" dirty="0"/>
              <a:t>Team name: laterals-legends   Members: </a:t>
            </a:r>
            <a:r>
              <a:rPr lang="en-US" dirty="0" err="1"/>
              <a:t>T.Reddy</a:t>
            </a:r>
            <a:r>
              <a:rPr lang="en-US" dirty="0"/>
              <a:t> </a:t>
            </a:r>
            <a:r>
              <a:rPr lang="en-US" dirty="0" err="1"/>
              <a:t>Rohith,P.Manoj</a:t>
            </a:r>
            <a:r>
              <a:rPr lang="en-US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6E82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240280"/>
          </a:xfrm>
          <a:prstGeom prst="rect">
            <a:avLst/>
          </a:prstGeom>
          <a:solidFill>
            <a:srgbClr val="1BA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93392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Build &amp; maintain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50592"/>
            <a:ext cx="3044952" cy="1481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Frontend/backend development, bug fixes, accessibility and security updates.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64008" cy="2240280"/>
          </a:xfrm>
          <a:prstGeom prst="rect">
            <a:avLst/>
          </a:prstGeom>
          <a:solidFill>
            <a:srgbClr val="F4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993392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Content &amp;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450592"/>
            <a:ext cx="3044952" cy="1481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Review learning material, maintain sample/job data and respond to user feedback.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64008" cy="2240280"/>
          </a:xfrm>
          <a:prstGeom prst="rect">
            <a:avLst/>
          </a:prstGeom>
          <a:solidFill>
            <a:srgbClr val="CA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993392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Hosting &amp;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450592"/>
            <a:ext cx="3044952" cy="1481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Web hosting, database backups, domain and monitoring as usage grows.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10241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11F39"/>
                </a:solidFill>
                <a:latin typeface="Aptos"/>
              </a:defRPr>
            </a:pPr>
            <a:r>
              <a:t>Financial figures: [ADD ESTIMATES AFTER COSTING]. Do not include made-up budget totals.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4754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BAE99"/>
                </a:solidFill>
                <a:latin typeface="Aptos"/>
              </a:defRPr>
            </a:pPr>
            <a:r>
              <a:t>RESPONSIBLE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1F39"/>
                </a:solidFill>
                <a:latin typeface="Aptos"/>
              </a:defRPr>
            </a:pPr>
            <a:r>
              <a:t>Risks and 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E6E82"/>
                </a:solidFill>
                <a:latin typeface="Aptos"/>
              </a:defRPr>
            </a:pPr>
            <a:r>
              <a:t>Design for transparency, privacy and learner agency.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CDDCED"/>
                </a:solidFill>
                <a:latin typeface="Aptos"/>
              </a:defRPr>
            </a:pPr>
            <a:r>
              <a:rPr lang="en-US" dirty="0"/>
              <a:t>Team name: laterals-legends   Members: </a:t>
            </a:r>
            <a:r>
              <a:rPr lang="en-US" dirty="0" err="1"/>
              <a:t>T.Reddy</a:t>
            </a:r>
            <a:r>
              <a:rPr lang="en-US" dirty="0"/>
              <a:t> </a:t>
            </a:r>
            <a:r>
              <a:rPr lang="en-US" dirty="0" err="1"/>
              <a:t>Rohith,P.Manoj</a:t>
            </a:r>
            <a:r>
              <a:rPr lang="en-US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6E82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64008" cy="1828800"/>
          </a:xfrm>
          <a:prstGeom prst="rect">
            <a:avLst/>
          </a:prstGeom>
          <a:solidFill>
            <a:srgbClr val="CA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01952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Incorrect guidance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59152"/>
            <a:ext cx="3044952" cy="10698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Label demo guidance; review content; provide a way to report issues.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737360"/>
            <a:ext cx="64008" cy="1828800"/>
          </a:xfrm>
          <a:prstGeom prst="rect">
            <a:avLst/>
          </a:prstGeom>
          <a:solidFill>
            <a:srgbClr val="1BA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901952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Privacy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359152"/>
            <a:ext cx="3044952" cy="10698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Collect only necessary data; explain use; protect credentials and database access.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737360"/>
            <a:ext cx="64008" cy="1828800"/>
          </a:xfrm>
          <a:prstGeom prst="rect">
            <a:avLst/>
          </a:prstGeom>
          <a:solidFill>
            <a:srgbClr val="F4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901952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Bias / exclusion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359152"/>
            <a:ext cx="3044952" cy="10698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Avoid implying one career path fits everyone; test language and accessibility.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4048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840480"/>
            <a:ext cx="64008" cy="1325880"/>
          </a:xfrm>
          <a:prstGeom prst="rect">
            <a:avLst/>
          </a:prstGeom>
          <a:solidFill>
            <a:srgbClr val="1BA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4005072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11F39"/>
                </a:solidFill>
                <a:latin typeface="Aptos"/>
              </a:defRPr>
            </a:pPr>
            <a:r>
              <a:t>Sample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462272"/>
            <a:ext cx="30449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33041"/>
                </a:solidFill>
                <a:latin typeface="Aptos"/>
              </a:defRPr>
            </a:pPr>
            <a:r>
              <a:t>Clearly label demo courses, progress and jobs.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84048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89120" y="3840480"/>
            <a:ext cx="64008" cy="1325880"/>
          </a:xfrm>
          <a:prstGeom prst="rect">
            <a:avLst/>
          </a:prstGeom>
          <a:solidFill>
            <a:srgbClr val="F4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90288" y="4005072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11F39"/>
                </a:solidFill>
                <a:latin typeface="Aptos"/>
              </a:defRPr>
            </a:pPr>
            <a:r>
              <a:t>Over-reliance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4462272"/>
            <a:ext cx="30449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33041"/>
                </a:solidFill>
                <a:latin typeface="Aptos"/>
              </a:defRPr>
            </a:pPr>
            <a:r>
              <a:t>Encourage learners to verify important decisions with trusted people.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84048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46720" y="3840480"/>
            <a:ext cx="64008" cy="1325880"/>
          </a:xfrm>
          <a:prstGeom prst="rect">
            <a:avLst/>
          </a:prstGeom>
          <a:solidFill>
            <a:srgbClr val="CA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47888" y="4005072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11F39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4462272"/>
            <a:ext cx="30449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33041"/>
                </a:solidFill>
                <a:latin typeface="Aptos"/>
              </a:defRPr>
            </a:pPr>
            <a:r>
              <a:t>Use environment variables for secrets; do not publish local DB or .env files.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4754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BAE99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1F39"/>
                </a:solidFill>
                <a:latin typeface="Aptos"/>
              </a:defRPr>
            </a:pPr>
            <a:r>
              <a:t>Next 90 days: prove, improve,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E6E82"/>
                </a:solidFill>
                <a:latin typeface="Aptos"/>
              </a:defRPr>
            </a:pPr>
            <a:r>
              <a:t>A proposed roadmap, not a statement of completed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CDDCED"/>
                </a:solidFill>
                <a:latin typeface="Aptos"/>
              </a:defRPr>
            </a:pPr>
            <a:r>
              <a:rPr lang="en-US" dirty="0"/>
              <a:t>Team name: laterals-legends   Members: </a:t>
            </a:r>
            <a:r>
              <a:rPr lang="en-US" dirty="0" err="1"/>
              <a:t>T.Reddy</a:t>
            </a:r>
            <a:r>
              <a:rPr lang="en-US" dirty="0"/>
              <a:t> </a:t>
            </a:r>
            <a:r>
              <a:rPr lang="en-US" dirty="0" err="1"/>
              <a:t>Rohith,P.Manoj</a:t>
            </a:r>
            <a:r>
              <a:rPr lang="en-US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6E82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4290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286000"/>
          </a:xfrm>
          <a:prstGeom prst="rect">
            <a:avLst/>
          </a:prstGeom>
          <a:solidFill>
            <a:srgbClr val="1BA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93392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Days 1–30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50592"/>
            <a:ext cx="3044952" cy="1527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Polish core flows</a:t>
            </a:r>
          </a:p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Fix persistence gaps</a:t>
            </a:r>
          </a:p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Capture real screenshots</a:t>
            </a:r>
          </a:p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Complete basic security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4290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64008" cy="2286000"/>
          </a:xfrm>
          <a:prstGeom prst="rect">
            <a:avLst/>
          </a:prstGeom>
          <a:solidFill>
            <a:srgbClr val="F4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993392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Days 31–60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450592"/>
            <a:ext cx="3044952" cy="1527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Interview students</a:t>
            </a:r>
          </a:p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Run usability tests</a:t>
            </a:r>
          </a:p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Improve course/tutor content</a:t>
            </a:r>
          </a:p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Add feedback collection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4290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64008" cy="2286000"/>
          </a:xfrm>
          <a:prstGeom prst="rect">
            <a:avLst/>
          </a:prstGeom>
          <a:solidFill>
            <a:srgbClr val="CA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993392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Days 61–90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450592"/>
            <a:ext cx="3044952" cy="1527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Run a small pilot</a:t>
            </a:r>
          </a:p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Measure engagement and learning tasks</a:t>
            </a:r>
          </a:p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Review results with a partner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Scale only after user feedback demonstrates value and the team can support the experience.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4754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BAE99"/>
                </a:solidFill>
                <a:latin typeface="Aptos"/>
              </a:defRPr>
            </a:pPr>
            <a: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1F39"/>
                </a:solidFill>
                <a:latin typeface="Aptos"/>
              </a:defRPr>
            </a:pPr>
            <a:r>
              <a:t>Team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E6E82"/>
                </a:solidFill>
                <a:latin typeface="Aptos"/>
              </a:defRPr>
            </a:pPr>
            <a:r>
              <a:t>Replace placeholders with real names and truthful responsibilities.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77724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CDDCED"/>
                </a:solidFill>
                <a:latin typeface="Aptos"/>
              </a:defRPr>
            </a:pPr>
            <a:r>
              <a:rPr lang="en-US" dirty="0"/>
              <a:t>Team name: laterals-legends   Members: </a:t>
            </a:r>
            <a:r>
              <a:rPr lang="en-US" dirty="0" err="1"/>
              <a:t>T.Reddy</a:t>
            </a:r>
            <a:r>
              <a:rPr lang="en-US" dirty="0"/>
              <a:t> </a:t>
            </a:r>
            <a:r>
              <a:rPr lang="en-US" dirty="0" err="1"/>
              <a:t>Rohith,P.Manoj</a:t>
            </a:r>
            <a:r>
              <a:rPr lang="en-US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6E82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4290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377440"/>
          </a:xfrm>
          <a:prstGeom prst="rect">
            <a:avLst/>
          </a:prstGeom>
          <a:solidFill>
            <a:srgbClr val="1BA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93392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Product &amp;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50592"/>
            <a:ext cx="3044952" cy="1618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[NAME]</a:t>
            </a:r>
          </a:p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User problem, requirements, interviews and testing.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4290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64008" cy="2377440"/>
          </a:xfrm>
          <a:prstGeom prst="rect">
            <a:avLst/>
          </a:prstGeom>
          <a:solidFill>
            <a:srgbClr val="F4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993392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450592"/>
            <a:ext cx="3044952" cy="1618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[NAME]</a:t>
            </a:r>
          </a:p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React/TypeScript frontend, FastAPI backend and SQLite integration.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4290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64008" cy="2377440"/>
          </a:xfrm>
          <a:prstGeom prst="rect">
            <a:avLst/>
          </a:prstGeom>
          <a:solidFill>
            <a:srgbClr val="CA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993392"/>
            <a:ext cx="304495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9"/>
                </a:solidFill>
                <a:latin typeface="Aptos"/>
              </a:defRPr>
            </a:pPr>
            <a:r>
              <a:t>Pitch &amp; partnerships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450592"/>
            <a:ext cx="3044952" cy="1618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[NAME]</a:t>
            </a:r>
          </a:p>
          <a:p>
            <a:pPr>
              <a:spcAft>
                <a:spcPts val="7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Presentation, demo, feedback and partner outreach.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800600"/>
            <a:ext cx="10424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5E6E82"/>
                </a:solidFill>
                <a:latin typeface="Aptos"/>
              </a:defRPr>
            </a:pPr>
            <a:r>
              <a:t>If one person covers multiple roles, say so clearly. List only advisors or partners who have agreed to participate.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BAE99"/>
                </a:solidFill>
                <a:latin typeface="Aptos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8755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Help us validate and improve 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CDDCED"/>
                </a:solidFill>
                <a:latin typeface="Aptos"/>
              </a:defRPr>
            </a:pPr>
            <a:r>
              <a:t>We are looking for: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8046720" cy="22860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Mentorship on learner-centred design and responsible technology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A college or community partner for a small usability pilot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Feedback on the learning journey and employability features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Technical guidance for deployment, privacy and future AI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2560320"/>
            <a:ext cx="2194560" cy="2194560"/>
          </a:xfrm>
          <a:prstGeom prst="roundRect">
            <a:avLst/>
          </a:prstGeom>
          <a:solidFill>
            <a:srgbClr val="19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0" y="2971800"/>
            <a:ext cx="1463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BAE99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3520440"/>
            <a:ext cx="173736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[ADD PUBLIC URL]</a:t>
            </a:r>
          </a:p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[ADD QR CODE]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9875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SkillBridge AI • Learn skills. Build confidence. Find your next opportunity.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9672"/>
            <a:ext cx="77724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CDDCED"/>
                </a:solidFill>
                <a:latin typeface="Aptos"/>
              </a:defRPr>
            </a:pPr>
            <a:r>
              <a:rPr lang="en-US" dirty="0"/>
              <a:t>Team name: laterals-legends   Members: </a:t>
            </a:r>
            <a:r>
              <a:rPr lang="en-US" dirty="0" err="1"/>
              <a:t>T.Reddy</a:t>
            </a:r>
            <a:r>
              <a:rPr lang="en-US" dirty="0"/>
              <a:t> </a:t>
            </a:r>
            <a:r>
              <a:rPr lang="en-US" dirty="0" err="1"/>
              <a:t>Rohith,P.Manoj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1944</Words>
  <Application>Microsoft Office PowerPoint</Application>
  <PresentationFormat>Widescreen</PresentationFormat>
  <Paragraphs>276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SkillBridge AI — Social Impact Hackathon Pitch Deck</dc:title>
  <dc:subject>Pitch deck draft based on the official 19-slide template structure</dc:subject>
  <dc:creator>SkillBridge AI Team</dc:creator>
  <cp:keywords>SkillBridge AI, social impact, education, employability</cp:keywords>
  <dc:description>generated using python-pptx</dc:description>
  <cp:lastModifiedBy>madaka HARSHA VARDHAN</cp:lastModifiedBy>
  <cp:revision>2</cp:revision>
  <dcterms:created xsi:type="dcterms:W3CDTF">2013-01-27T09:14:16Z</dcterms:created>
  <dcterms:modified xsi:type="dcterms:W3CDTF">2026-10-11T07:40:29Z</dcterms:modified>
  <cp:category/>
</cp:coreProperties>
</file>